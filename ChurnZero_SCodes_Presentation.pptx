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22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04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043"/>
                </a:solidFill>
                <a:latin typeface="Arial"/>
              </a:rPr>
              <a:t>Churn Rate by Customer Segment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FF66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1E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6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6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99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99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BB7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Single Product</c:v>
                  </c:pt>
                  <c:pt idx="1">
                    <c:v>Competitor Aware (High)</c:v>
                  </c:pt>
                  <c:pt idx="2">
                    <c:v>Tier 3 City</c:v>
                  </c:pt>
                  <c:pt idx="3">
                    <c:v>Age 20-30</c:v>
                  </c:pt>
                  <c:pt idx="4">
                    <c:v>Digital Disengaged</c:v>
                  </c:pt>
                  <c:pt idx="5">
                    <c:v>Multi-Product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31</c:v>
                </c:pt>
                <c:pt idx="2">
                  <c:v>27</c:v>
                </c:pt>
                <c:pt idx="3">
                  <c:v>24</c:v>
                </c:pt>
                <c:pt idx="4">
                  <c:v>22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1E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04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043"/>
                </a:solidFill>
                <a:latin typeface="Arial"/>
              </a:rPr>
              <a:t>Training Data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2E8F0"/>
              </a:solidFill>
              <a:effectLst/>
            </c:spPr>
          </c:dPt>
          <c:dPt>
            <c:idx val="1"/>
            <c:bubble3D val="0"/>
            <c:spPr>
              <a:solidFill>
                <a:srgbClr val="FF66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1E1E1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1E1E1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Did NOT churn (84%)</c:v>
                </c:pt>
                <c:pt idx="1">
                  <c:v>Churned (16%)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84</c:v>
                </c:pt>
                <c:pt idx="1">
                  <c:v>16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04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043"/>
                </a:solidFill>
                <a:latin typeface="Arial"/>
              </a:rPr>
              <a:t>Cross-Validation Scores (5-Fold Stratified)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FF66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1E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LightGBM</c:v>
                  </c:pt>
                  <c:pt idx="1">
                    <c:v>XGBoost</c:v>
                  </c:pt>
                  <c:pt idx="2">
                    <c:v>CatBoost</c:v>
                  </c:pt>
                  <c:pt idx="3">
                    <c:v>Ensemble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0.77</c:v>
                </c:pt>
                <c:pt idx="1">
                  <c:v>0.76</c:v>
                </c:pt>
                <c:pt idx="2">
                  <c:v>0.77</c:v>
                </c:pt>
                <c:pt idx="3">
                  <c:v>0.77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1E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LightGBM</c:v>
                  </c:pt>
                  <c:pt idx="1">
                    <c:v>XGBoost</c:v>
                  </c:pt>
                  <c:pt idx="2">
                    <c:v>CatBoost</c:v>
                  </c:pt>
                  <c:pt idx="3">
                    <c:v>Ensemble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0.68</c:v>
                </c:pt>
                <c:pt idx="1">
                  <c:v>0.68</c:v>
                </c:pt>
                <c:pt idx="2">
                  <c:v>0.68</c:v>
                </c:pt>
                <c:pt idx="3">
                  <c:v>0.68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1E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04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2043"/>
                </a:solidFill>
                <a:latin typeface="Arial"/>
              </a:rPr>
              <a:t>Feature Importance (Mean Absolute SHAP Value)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</c:v>
                </c:pt>
              </c:strCache>
            </c:strRef>
          </c:tx>
          <c:spPr>
            <a:solidFill>
              <a:srgbClr val="FF66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E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6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6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6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6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66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66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660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F660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F660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A326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Credit Card Spend</c:v>
                  </c:pt>
                  <c:pt idx="1">
                    <c:v>Avg Open-to-Buy</c:v>
                  </c:pt>
                  <c:pt idx="2">
                    <c:v>Txn Amount Change Q4→Q1</c:v>
                  </c:pt>
                  <c:pt idx="3">
                    <c:v>No. of Products</c:v>
                  </c:pt>
                  <c:pt idx="4">
                    <c:v>Credit Card Limit</c:v>
                  </c:pt>
                  <c:pt idx="5">
                    <c:v>Product Breadth*</c:v>
                  </c:pt>
                  <c:pt idx="6">
                    <c:v>Digital Disengagement*</c:v>
                  </c:pt>
                  <c:pt idx="7">
                    <c:v>Customer Age</c:v>
                  </c:pt>
                  <c:pt idx="8">
                    <c:v>App Rating Given</c:v>
                  </c:pt>
                  <c:pt idx="9">
                    <c:v>Prepayment Flag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1.841</c:v>
                </c:pt>
                <c:pt idx="1">
                  <c:v>0.821</c:v>
                </c:pt>
                <c:pt idx="2">
                  <c:v>0.594</c:v>
                </c:pt>
                <c:pt idx="3">
                  <c:v>0.593</c:v>
                </c:pt>
                <c:pt idx="4">
                  <c:v>0.508</c:v>
                </c:pt>
                <c:pt idx="5">
                  <c:v>0.481</c:v>
                </c:pt>
                <c:pt idx="6">
                  <c:v>0.331</c:v>
                </c:pt>
                <c:pt idx="7">
                  <c:v>0.273</c:v>
                </c:pt>
                <c:pt idx="8">
                  <c:v>0.215</c:v>
                </c:pt>
                <c:pt idx="9">
                  <c:v>0.209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1E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474720"/>
            <a:ext cx="4114800" cy="4114800"/>
          </a:xfrm>
          <a:prstGeom prst="ellipse">
            <a:avLst/>
          </a:prstGeom>
          <a:solidFill>
            <a:srgbClr val="FF6600">
              <a:alpha val="18000"/>
            </a:srgbClr>
          </a:solidFill>
          <a:ln w="12700">
            <a:solidFill>
              <a:srgbClr val="FF6600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731520" y="4114800"/>
            <a:ext cx="2743200" cy="27432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601200" y="182880"/>
            <a:ext cx="1828800" cy="1828800"/>
          </a:xfrm>
          <a:prstGeom prst="ellipse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2801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Customer Churn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6600"/>
                </a:solidFill>
              </a:rPr>
              <a:t>Prediction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Predicting at-risk customers before they leave — saving revenue, reducing churn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206240"/>
            <a:ext cx="4572000" cy="0"/>
          </a:xfrm>
          <a:prstGeom prst="line">
            <a:avLst/>
          </a:prstGeom>
          <a:noFill/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</a:rPr>
              <a:t>Powered by  LightGBM  +  XGBoost  +  CatBoost  Ensemble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AF"/>
                </a:solidFill>
              </a:rPr>
              <a:t>Team SCodes  |  ChurnZero Hackathon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84048" y="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Business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SCodes  |  ChurnZero Hackathon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657600" cy="2011680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1371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16%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E8FF"/>
                </a:solidFill>
              </a:rPr>
              <a:t>Annual customer churn rate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3657600" cy="20116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297680" y="1371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₹40,000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297680" y="24231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E8FF"/>
                </a:solidFill>
              </a:rPr>
              <a:t>Revenue lost per missed churner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280160"/>
            <a:ext cx="3657600" cy="2011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0" y="1371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₹500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29600" y="24231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E8FF"/>
                </a:solidFill>
              </a:rPr>
              <a:t>Cost per false retention alarm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11430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65760" y="3520440"/>
            <a:ext cx="64008" cy="15544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3"/>
                </a:solidFill>
              </a:rPr>
              <a:t>The Challenge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</a:rPr>
              <a:t>Banks lose thousands of customers silently every year. By the time a customer closes their account, it is too late to act. </a:t>
            </a:r>
            <a:pPr indent="0" marL="0">
              <a:buNone/>
            </a:pPr>
            <a:r>
              <a:rPr lang="en-US" sz="1300" b="1" dirty="0">
                <a:solidFill>
                  <a:srgbClr val="FF6600"/>
                </a:solidFill>
              </a:rPr>
              <a:t>We need to identify at-risk customers weeks in advance</a:t>
            </a:r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</a:rPr>
              <a:t> — while there is still time to intervene with targeted retention offers.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84048" y="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Dataset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SCodes  |  ChurnZero Hackathon 2026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7772400" cy="5029200"/>
        </p:xfrm>
        <a:graphic>
          <a:graphicData uri="http://schemas.openxmlformats.org/drawingml/2006/table">
            <a:tbl>
              <a:tblPr/>
              <a:tblGrid>
                <a:gridCol w="2743200"/>
                <a:gridCol w="50292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Training Data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8,101 customers with known churn outcomes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Test Data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2,026 customers — churn to be predicted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Total Features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97 features across 8 behavioural categories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Churn Rate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16.07%  —  imbalanced dataset (minority class)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Missing Data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Only app_rating_given missing (56%) — handled via median imputation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Leakage Removed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E1E"/>
                          </a:solidFill>
                        </a:rPr>
                        <a:t>11 post-churn columns dropped (satisfaction_score, nps_score, etc.)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595360" y="1188720"/>
            <a:ext cx="3200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595360" y="1298448"/>
            <a:ext cx="3200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043"/>
                </a:solidFill>
              </a:rPr>
              <a:t>8,101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595360" y="1851660"/>
            <a:ext cx="320040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Training rows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595360" y="2468880"/>
            <a:ext cx="3200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595360" y="2578608"/>
            <a:ext cx="3200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043"/>
                </a:solidFill>
              </a:rPr>
              <a:t>97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8595360" y="3131820"/>
            <a:ext cx="320040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Raw features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595360" y="3749040"/>
            <a:ext cx="3200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595360" y="3858768"/>
            <a:ext cx="3200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043"/>
                </a:solidFill>
              </a:rPr>
              <a:t>46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8595360" y="4411980"/>
            <a:ext cx="320040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Clean features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after leakage removal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595360" y="5029200"/>
            <a:ext cx="3200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595360" y="5138928"/>
            <a:ext cx="3200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043"/>
                </a:solidFill>
              </a:rPr>
              <a:t>16%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8595360" y="5692140"/>
            <a:ext cx="320040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Churn rate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84048" y="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EDA Findings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SCodes  |  ChurnZero Hackathon 2026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498080" y="1188720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498080" y="1188720"/>
            <a:ext cx="54864" cy="7498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644384" y="120700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</a:rPr>
              <a:t>Single-product customers churn 3× more than multi-product holders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98080" y="2057400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498080" y="2057400"/>
            <a:ext cx="54864" cy="749808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644384" y="207568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</a:rPr>
              <a:t>Digital disengagement (high last_login_days) is a top churn predictor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498080" y="2926080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7498080" y="2926080"/>
            <a:ext cx="54864" cy="749808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644384" y="294436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</a:rPr>
              <a:t>Sudden credit card spend drops signal intent to leave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98080" y="3794760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7498080" y="3794760"/>
            <a:ext cx="54864" cy="749808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644384" y="381304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</a:rPr>
              <a:t>Tier 3 city customers show elevated churn vs Tier 1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498080" y="4663440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7498080" y="4663440"/>
            <a:ext cx="54864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644384" y="468172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</a:rPr>
              <a:t>Competitor-aware customers churn at 2× the baseline rate</a:t>
            </a:r>
            <a:endParaRPr lang="en-US" sz="1150" dirty="0"/>
          </a:p>
        </p:txBody>
      </p:sp>
      <p:pic>
        <p:nvPicPr>
          <p:cNvPr id="23" name="Picture 22" descr="eda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18872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84048" y="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 Preparation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SCodes  |  ChurnZero Hackathon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53949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65760" y="1188720"/>
            <a:ext cx="5394960" cy="411480"/>
          </a:xfrm>
          <a:prstGeom prst="rect">
            <a:avLst/>
          </a:prstGeom>
          <a:solidFill>
            <a:srgbClr val="FFF0E8"/>
          </a:solidFill>
          <a:ln w="12700">
            <a:solidFill>
              <a:srgbClr val="FFF0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1887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00"/>
                </a:solidFill>
              </a:rPr>
              <a:t>Removed — Leakage Risk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512064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</a:rPr>
              <a:t>satisfaction_score — given after customer decides to leave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</a:rPr>
              <a:t>nps_score — post-churn survey response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</a:rPr>
              <a:t>total_complaints — complaint count spikes after churn decision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</a:rPr>
              <a:t>nps_score, escalation_count — outcome-driven signals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</a:rPr>
              <a:t>unresolved_complaint_count — post-event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</a:rPr>
              <a:t>balance_decline_percentage — accelerates after churn decision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</a:rPr>
              <a:t>7 additional post-outcome columns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F6600"/>
                </a:solidFill>
              </a:rPr>
              <a:t>Total removed: 11 leakage columns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54864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5486400" cy="411480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0" y="1188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Kept &amp; Cleaned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169164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</a:rPr>
              <a:t>46 clean predictive features retained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</a:rPr>
              <a:t>app_rating_given — imputed with median from train set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</a:rPr>
              <a:t>app_rating_missing_flag — new binary indicator added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</a:rPr>
              <a:t>All 15 categorical columns label-encoded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</a:rPr>
              <a:t>Identical transforms applied to train and test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</a:rPr>
              <a:t>7 new engineered features added (see next slide)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0A896"/>
                </a:solidFill>
              </a:rPr>
              <a:t>Final train shape: (8,101 × 102)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0A896"/>
                </a:solidFill>
              </a:rPr>
              <a:t>Final test shape:  (2,026 × 101)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84048" y="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Feature Engineering: Building Smarter Signals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SCodes  |  ChurnZero Hackathon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55778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60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65760" y="1234440"/>
            <a:ext cx="64008" cy="107899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74920" y="1307592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074920" y="13075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2064" y="13258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Digital Disengagement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" y="167335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last_login_days × (1 − digital_transaction_ratio)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41448"/>
            <a:ext cx="55778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65760" y="2441448"/>
            <a:ext cx="64008" cy="10789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074920" y="251460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74920" y="25146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2064" y="25328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Credit Stress 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" y="2880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utilization × late_payments + loan_default_risk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48456"/>
            <a:ext cx="55778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5760" y="3648456"/>
            <a:ext cx="64008" cy="10789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074920" y="3721608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074920" y="37216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2064" y="37398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Dissatisfaction Index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" y="408736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complaints / (satisfaction + 1) + escalations ×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855464"/>
            <a:ext cx="55778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65760" y="4855464"/>
            <a:ext cx="64008" cy="10789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074920" y="4928616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074920" y="49286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" y="49469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Balance Health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" y="529437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balance_decline × account_inactive_days / 30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1234440"/>
            <a:ext cx="55778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60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309360" y="1234440"/>
            <a:ext cx="64008" cy="107899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1018520" y="1307592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1018520" y="13075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55664" y="13258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Product Breadth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55664" y="167335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Sum of all 10 product flags held by customer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2441448"/>
            <a:ext cx="55778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309360" y="2441448"/>
            <a:ext cx="64008" cy="10789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1018520" y="2514600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1018520" y="25146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55664" y="25328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Campaign Responsiveness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55664" y="2880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campaign_responses / (campaigns_received + 1)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9360" y="3648456"/>
            <a:ext cx="55778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309360" y="3648456"/>
            <a:ext cx="64008" cy="10789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11018520" y="3721608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11018520" y="37216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55664" y="37398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Engagement Drop Ratio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455664" y="408736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total_logins / (tenure_months + 1)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" y="6236208"/>
            <a:ext cx="1143000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65760" y="623620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 of 7 engineered features ranked in the Top 10 churn drivers — validated by SHAP analysis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84048" y="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Why We Chose Gradient Boosting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SCodes  |  ChurnZero Hackathon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65760" y="1234440"/>
            <a:ext cx="3657600" cy="5029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5760" y="1234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LightGBM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1E"/>
                </a:solidFill>
              </a:rPr>
              <a:t>Lightning-fast training. Handles class imbalance natively via scale_pos_weight.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23444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297680" y="1234440"/>
            <a:ext cx="3657600" cy="50292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297680" y="1234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XGBoost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34840" y="187452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1E"/>
                </a:solidFill>
              </a:rPr>
              <a:t>Battle-tested robustness. Captures different error patterns from LightGBM.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123444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29600" y="1234440"/>
            <a:ext cx="365760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0" y="1234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CatBoost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187452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E1E"/>
                </a:solidFill>
              </a:rPr>
              <a:t>Best-in-class for categorical features. No manual encoding needed.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4069080"/>
            <a:ext cx="11430000" cy="566928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4069080"/>
            <a:ext cx="11430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Final prediction = average probability from all 3 models  (ensemble blending)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4846320"/>
            <a:ext cx="11430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8640" y="49194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Why not other models?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Neural Networks — only 8,101 rows; deep learning needs 10× more data to beat boosting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Logistic Regression — too simple to capture interactions between 97 features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Random Forest — slower and consistently weaker than gradient boosting on tabular 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Prophet / Time Series — wrong tool: this is binary classification, not forecasting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84048" y="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Catching the Rare Churners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SCodes  |  ChurnZero Hackathon 2026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760720" y="1234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043"/>
                </a:solidFill>
              </a:rPr>
              <a:t>How We Made the Model Care About Churners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60720" y="1737360"/>
            <a:ext cx="60350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760720" y="1737360"/>
            <a:ext cx="502920" cy="102412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760720" y="1737360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355080" y="181051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Churners weighted 5× more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55080" y="212140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We tell the model: missing a real churner is 5× worse than a false alarm — so it pays extra attention to them.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60720" y="2907792"/>
            <a:ext cx="60350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760720" y="2907792"/>
            <a:ext cx="502920" cy="102412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760720" y="2907792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355080" y="298094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Tested 5 different ways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55080" y="329184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We split the data into 5 folds and re-tested the model on each — making sure the results are not a lucky fluke.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760720" y="4078224"/>
            <a:ext cx="60350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5760720" y="4078224"/>
            <a:ext cx="502920" cy="102412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760720" y="4078224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55080" y="415137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Tuned to ₹ business cost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355080" y="446227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We tuned the alert threshold to minimise rupees lost (₹40k per missed churner, ₹500 per false alarm) — not raw accuracy.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760720" y="5248656"/>
            <a:ext cx="60350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5760720" y="5248656"/>
            <a:ext cx="502920" cy="102412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5760720" y="5248656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355080" y="532180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Measured on catching churners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355080" y="563270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We score the model on how well it catches the 16% who actually churn — not on overall accuracy, which can hide failure.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84048" y="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Model Performance Results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SCodes  |  ChurnZero Hackathon 2026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863840" y="123444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863840" y="1344168"/>
            <a:ext cx="3931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600"/>
                </a:solidFill>
              </a:rPr>
              <a:t>0.78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863840" y="1976933"/>
            <a:ext cx="393192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Blended PR-AUC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63840" y="265176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863840" y="2761488"/>
            <a:ext cx="3931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</a:rPr>
              <a:t>0.67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7863840" y="3394253"/>
            <a:ext cx="393192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Blended F1 Score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63840" y="406908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863840" y="4178808"/>
            <a:ext cx="39319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043"/>
                </a:solidFill>
              </a:rPr>
              <a:t>5-Fold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7863840" y="4811573"/>
            <a:ext cx="393192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Stratified CV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5074920"/>
            <a:ext cx="11430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48640" y="51663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3"/>
                </a:solidFill>
              </a:rPr>
              <a:t>Why PR-AUC and not Accuracy?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 naive model that predicts every customer as 'no churn' scores 84% accuracy — yet catches zero churners. PR-AUC directly measures how well the model retrieves the minority (churn) class, making it the only meaningful metric for imbalanced problems like this.</a:t>
            </a:r>
            <a:endParaRPr lang="en-US" sz="1200" dirty="0"/>
          </a:p>
        </p:txBody>
      </p:sp>
      <p:pic>
        <p:nvPicPr>
          <p:cNvPr id="19" name="Picture 18" descr="pr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234440"/>
            <a:ext cx="3520440" cy="3657600"/>
          </a:xfrm>
          <a:prstGeom prst="rect">
            <a:avLst/>
          </a:prstGeom>
        </p:spPr>
      </p:pic>
      <p:pic>
        <p:nvPicPr>
          <p:cNvPr id="20" name="Picture 19" descr="confusion_matri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40" y="1234440"/>
            <a:ext cx="352044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84048" y="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Business Cost Optimisation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SCodes  |  ChurnZero Hackathon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5303520" cy="2926080"/>
          </a:xfrm>
          <a:prstGeom prst="rect">
            <a:avLst/>
          </a:prstGeom>
          <a:solidFill>
            <a:srgbClr val="FFF5F0"/>
          </a:solidFill>
          <a:ln w="12700">
            <a:solidFill>
              <a:srgbClr val="FFCCB3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65760" y="1234440"/>
            <a:ext cx="5303520" cy="457200"/>
          </a:xfrm>
          <a:prstGeom prst="rect">
            <a:avLst/>
          </a:prstGeom>
          <a:solidFill>
            <a:srgbClr val="FF9966"/>
          </a:solidFill>
          <a:ln w="12700">
            <a:solidFill>
              <a:srgbClr val="FF996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5760" y="1234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Standard Threshold  0.50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Misses many real churners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</a:rPr>
              <a:t>High false negative cost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</a:rPr>
              <a:t>Revenue walks out the door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</a:rPr>
              <a:t>Business loses ₹40,000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</a:rPr>
              <a:t>per missed customer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52160" y="2606040"/>
            <a:ext cx="640080" cy="0"/>
          </a:xfrm>
          <a:prstGeom prst="line">
            <a:avLst/>
          </a:prstGeom>
          <a:noFill/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760720" y="2331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6600"/>
                </a:solidFill>
              </a:rPr>
              <a:t>→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577840" y="28346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Optimised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234440"/>
            <a:ext cx="5120640" cy="2926080"/>
          </a:xfrm>
          <a:prstGeom prst="rect">
            <a:avLst/>
          </a:prstGeom>
          <a:solidFill>
            <a:srgbClr val="E8F8F5"/>
          </a:solidFill>
          <a:ln w="12700">
            <a:solidFill>
              <a:srgbClr val="99DDD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675120" y="1234440"/>
            <a:ext cx="512064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75120" y="1234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Optimal Threshold  0.74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12280" y="17830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Minimises total ₹ business cost
361 customers flagged for action
Catches churners early enough
to intervene with retention offers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</a:rPr>
              <a:t/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</a:rPr>
              <a:t/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</a:rPr>
              <a:t/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389120"/>
            <a:ext cx="3657600" cy="1417320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65760" y="44348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600"/>
                </a:solidFill>
              </a:rPr>
              <a:t>361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65760" y="5166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Customers flagged for retention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4389120"/>
            <a:ext cx="3657600" cy="1417320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297680" y="44348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600"/>
                </a:solidFill>
              </a:rPr>
              <a:t>₹1,80,500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297680" y="5166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Retention budget required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4389120"/>
            <a:ext cx="3657600" cy="1417320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29600" y="44348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600"/>
                </a:solidFill>
              </a:rPr>
              <a:t>₹1.44 Cr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229600" y="5166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Revenue potentially protected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84048" y="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Drives Churn: Top 10 Factors (SHAP)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SCodes  |  ChurnZero Hackathon 2026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412480" y="1234440"/>
            <a:ext cx="35661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8412480" y="1234440"/>
            <a:ext cx="64008" cy="117043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558784" y="132588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Credit Card Spend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58784" y="1618488"/>
            <a:ext cx="3364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Top driver. Sudden drop signals customer moving spend to competitor.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412480" y="2532888"/>
            <a:ext cx="35661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8412480" y="2532888"/>
            <a:ext cx="64008" cy="1170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558784" y="262432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Product Breadth*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558784" y="2916936"/>
            <a:ext cx="3364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Our engineered feature — more products = higher switching cost.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412480" y="3831336"/>
            <a:ext cx="35661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412480" y="3831336"/>
            <a:ext cx="64008" cy="1170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558784" y="392277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Digital Disengagement*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558784" y="4215384"/>
            <a:ext cx="3364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Our engineered feature — login gap × low digital usage.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412480" y="5129784"/>
            <a:ext cx="35661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412480" y="5129784"/>
            <a:ext cx="64008" cy="1170432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8558784" y="522122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Age + App Rating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558784" y="5513832"/>
            <a:ext cx="3364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Younger customers with low app ratings are at highest risk.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* Engineered features — created by our team, validated independently by SHAP</a:t>
            </a:r>
            <a:endParaRPr lang="en-US" sz="1000" dirty="0"/>
          </a:p>
        </p:txBody>
      </p:sp>
      <p:pic>
        <p:nvPicPr>
          <p:cNvPr id="25" name="Picture 24" descr="shap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234440"/>
            <a:ext cx="7772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F2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80000"/>
            <a:ext cx="1143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Risk Segment Analysis — Who Are the 361 High-Risk Customers?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00000"/>
            <a:ext cx="1143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FD6E3"/>
                </a:solidFill>
              </a:rPr>
              <a:t>Baseline High-risk rate = 17.8%  ·  Lift = segment rate ÷ baseline  ·  Share = % of all 361 captured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F2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73000"/>
            <a:ext cx="64008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SCodes  |  ChurnZero Hackathon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0000"/>
            <a:ext cx="5577840" cy="1490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0000"/>
            <a:ext cx="64008" cy="1490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5760" y="1260000"/>
            <a:ext cx="540784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043"/>
                </a:solidFill>
              </a:rPr>
              <a:t>Digitally Disengaged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760" y="1550000"/>
            <a:ext cx="540784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EA0"/>
                </a:solidFill>
              </a:rPr>
              <a:t>Last login ≥ 30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760" y="1820000"/>
            <a:ext cx="17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6600"/>
                </a:solidFill>
              </a:rPr>
              <a:t>2.50×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5760" y="1860000"/>
            <a:ext cx="365784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2043"/>
                </a:solidFill>
              </a:rPr>
              <a:t>44.5% High-risk rate  ·  147 of 330 customers
Captures 41% of all High-risk (147/361)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0000"/>
            <a:ext cx="5577840" cy="1490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180000"/>
            <a:ext cx="64008" cy="1490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9360" y="1260000"/>
            <a:ext cx="540784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043"/>
                </a:solidFill>
              </a:rPr>
              <a:t>Competitor-Aware (High)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9360" y="1550000"/>
            <a:ext cx="540784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EA0"/>
                </a:solidFill>
              </a:rPr>
              <a:t>Actively comparing with rivals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9360" y="1820000"/>
            <a:ext cx="17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6600"/>
                </a:solidFill>
              </a:rPr>
              <a:t>2.20×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9360" y="1860000"/>
            <a:ext cx="365784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2043"/>
                </a:solidFill>
              </a:rPr>
              <a:t>39.2% High-risk rate  ·  150 of 383 customers
Captures 42% of all High-risk (150/361)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20000"/>
            <a:ext cx="5577840" cy="1490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820000"/>
            <a:ext cx="64008" cy="1490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5760" y="2900000"/>
            <a:ext cx="540784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043"/>
                </a:solidFill>
              </a:rPr>
              <a:t>Young Low-Product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60" y="3190000"/>
            <a:ext cx="540784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EA0"/>
                </a:solidFill>
              </a:rPr>
              <a:t>Age ≤ 35 · 1–2 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60" y="3460000"/>
            <a:ext cx="17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6600"/>
                </a:solidFill>
              </a:rPr>
              <a:t>1.58×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5760" y="3500000"/>
            <a:ext cx="365784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2043"/>
                </a:solidFill>
              </a:rPr>
              <a:t>28.2% High-risk rate  ·  11 of 39 customers
Captures 3% of all High-risk (11/361)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820000"/>
            <a:ext cx="5577840" cy="1490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2820000"/>
            <a:ext cx="64008" cy="1490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59360" y="2900000"/>
            <a:ext cx="540784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043"/>
                </a:solidFill>
              </a:rPr>
              <a:t>Single-Product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9360" y="3190000"/>
            <a:ext cx="540784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EA0"/>
                </a:solidFill>
              </a:rPr>
              <a:t>Holds only 1 product · no lock-in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9360" y="3460000"/>
            <a:ext cx="17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6600"/>
                </a:solidFill>
              </a:rPr>
              <a:t>1.38×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9360" y="3500000"/>
            <a:ext cx="365784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2043"/>
                </a:solidFill>
              </a:rPr>
              <a:t>24.6% High-risk rate  ·  41 of 167 customers
Captures 11% of all High-risk (41/361)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460000"/>
            <a:ext cx="5577840" cy="1490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460000"/>
            <a:ext cx="64008" cy="1490000"/>
          </a:xfrm>
          <a:prstGeom prst="rect">
            <a:avLst/>
          </a:prstGeom>
          <a:solidFill>
            <a:srgbClr val="888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5760" y="4540000"/>
            <a:ext cx="540784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043"/>
                </a:solidFill>
              </a:rPr>
              <a:t>Tier 3 City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5760" y="4830000"/>
            <a:ext cx="540784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EA0"/>
                </a:solidFill>
              </a:rPr>
              <a:t>Limited branch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5760" y="5100000"/>
            <a:ext cx="17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88EA0"/>
                </a:solidFill>
              </a:rPr>
              <a:t>1.06×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65760" y="5140000"/>
            <a:ext cx="365784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2043"/>
                </a:solidFill>
              </a:rPr>
              <a:t>18.8% High-risk rate  ·  88 of 468 customers
Captures 24% of all High-risk (88/361)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460000"/>
            <a:ext cx="5577840" cy="1490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4460000"/>
            <a:ext cx="64008" cy="1490000"/>
          </a:xfrm>
          <a:prstGeom prst="rect">
            <a:avLst/>
          </a:prstGeom>
          <a:solidFill>
            <a:srgbClr val="888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9360" y="4540000"/>
            <a:ext cx="540784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2043"/>
                </a:solidFill>
              </a:rPr>
              <a:t>High Credit Utilisation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9360" y="4830000"/>
            <a:ext cx="540784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EA0"/>
                </a:solidFill>
              </a:rPr>
              <a:t>Utilisation ≥ 50%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59360" y="5100000"/>
            <a:ext cx="17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88EA0"/>
                </a:solidFill>
              </a:rPr>
              <a:t>0.56×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09360" y="5140000"/>
            <a:ext cx="365784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2043"/>
                </a:solidFill>
              </a:rPr>
              <a:t>9.9% High-risk rate  ·  50 of 505 customers
Captures 14% of all High-risk (50/361)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6285392"/>
            <a:ext cx="1143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A896"/>
                </a:solidFill>
              </a:rPr>
              <a:t>Insight: Behavioural signals (digital disengagement + competitor awareness) outweigh financial signals — our model finds churn risk in *engagement*, not balance sheets.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84048" y="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Business Recommendations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SCodes  |  ChurnZero Hackathon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114300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65760" y="1234440"/>
            <a:ext cx="658368" cy="95097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5760" y="1234440"/>
            <a:ext cx="6583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128930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Monitor Digital Disengagement Daily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163677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Trigger automated retention calls for customers whose digital_disengagement score enters the top quartile. Early intervention while the relationship is still warm.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04288"/>
            <a:ext cx="114300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65760" y="2304288"/>
            <a:ext cx="658368" cy="95097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" y="2304288"/>
            <a:ext cx="6583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235915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Aggressive Cross-Sell to Single-Product Customers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270662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Each additional product reduces churn probability significantly. Prioritise savings + credit card bundle offers to single-product account holders.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74136"/>
            <a:ext cx="114300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65760" y="3374136"/>
            <a:ext cx="658368" cy="950976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65760" y="3374136"/>
            <a:ext cx="6583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5568" y="34290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Flag Credit Spend Drops &gt; 30% MoM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3776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Month-over-month credit card spend decline of 30%+ is an early warning signal. Assign relationship manager contact within 72 hours.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443984"/>
            <a:ext cx="114300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65760" y="4443984"/>
            <a:ext cx="658368" cy="950976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65760" y="4443984"/>
            <a:ext cx="6583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15568" y="44988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Target Competitor-Aware Customers Immediately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15568" y="4846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Customers flagged as High competitor awareness churn at 2× rate. Deploy personalised retention offers within 48 hours of detection.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5513832"/>
            <a:ext cx="114300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65760" y="5513832"/>
            <a:ext cx="658368" cy="9509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65760" y="5513832"/>
            <a:ext cx="6583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15568" y="556869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3"/>
                </a:solidFill>
              </a:rPr>
              <a:t>Loyalty Program for Tier 3 + Young Segments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15568" y="59161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Enrol Tier 3 city customers under age 30 in digital loyalty programs. Improve app experience and offer fee waivers to increase switching costs.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84048" y="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Solution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6565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SCodes  |  ChurnZero Hackathon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5577840" cy="2331720"/>
          </a:xfrm>
          <a:prstGeom prst="rect">
            <a:avLst/>
          </a:prstGeom>
          <a:solidFill>
            <a:srgbClr val="0F2043"/>
          </a:solidFill>
          <a:ln w="12700">
            <a:solidFill>
              <a:srgbClr val="0F204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13441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</a:rPr>
              <a:t>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746504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97 → 46 features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2587752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8,101 training samples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Leakage-free pipeline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5577840" cy="233172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17920" y="13441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</a:rPr>
              <a:t>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1746504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PR-AUC  0.78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17920" y="2587752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3-model ensemble blend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F1 Score: 0.67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5577840" cy="2331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65760" y="39044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</a:rPr>
              <a:t>BUSINESS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306824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Threshold  0.74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65760" y="5148072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FN=₹40k cost minimised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Optimised for ₹ not accuracy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5577840" cy="233172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17920" y="39044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</a:rPr>
              <a:t>OUTPUT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4306824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361 churners flagged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17920" y="5148072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Out of 2,026 test customers
₹1.44 Cr revenue protected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/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200400"/>
            <a:ext cx="4572000" cy="4572000"/>
          </a:xfrm>
          <a:prstGeom prst="ellipse">
            <a:avLst/>
          </a:prstGeom>
          <a:solidFill>
            <a:srgbClr val="FF6600">
              <a:alpha val="15000"/>
            </a:srgbClr>
          </a:solidFill>
          <a:ln w="12700">
            <a:solidFill>
              <a:srgbClr val="FF6600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914400" y="3840480"/>
            <a:ext cx="3200400" cy="32004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28016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</a:rPr>
              <a:t>Thank You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A896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337560"/>
            <a:ext cx="4572000" cy="0"/>
          </a:xfrm>
          <a:prstGeom prst="line">
            <a:avLst/>
          </a:prstGeom>
          <a:noFill/>
          <a:ln w="12700">
            <a:solidFill>
              <a:srgbClr val="FF66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56616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Model:        LightGBM + XGBoost + CatBoost Ensemble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Performance:  PR-AUC 0.78  |  F1 Score 0.67  |  5-Fold OOF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Impact:       361 churners identified  |  ₹1.44 Cr revenue protected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AF"/>
                </a:solidFill>
              </a:rPr>
              <a:t>Team SCodes  |  ChurnZero Hackathon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2026-05-22T08:39:26Z</dcterms:created>
  <dcterms:modified xsi:type="dcterms:W3CDTF">2026-05-22T08:39:26Z</dcterms:modified>
</cp:coreProperties>
</file>